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1640" r:id="rId2"/>
    <p:sldId id="1752" r:id="rId3"/>
    <p:sldId id="1755" r:id="rId4"/>
    <p:sldId id="1757" r:id="rId5"/>
    <p:sldId id="1758" r:id="rId6"/>
    <p:sldId id="1759" r:id="rId7"/>
    <p:sldId id="1829" r:id="rId8"/>
    <p:sldId id="1830" r:id="rId9"/>
    <p:sldId id="1762" r:id="rId10"/>
    <p:sldId id="184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3FFB2F9-B20B-F3D9-E2CF-8A1B6FB546FE}" name="James C Davis" initials="JD" userId="S::davisjam@purdue.edu::84778d94-b1cc-4a48-87ce-749e1d7d6e7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0000"/>
    <a:srgbClr val="620000"/>
    <a:srgbClr val="6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82"/>
    <p:restoredTop sz="78910"/>
  </p:normalViewPr>
  <p:slideViewPr>
    <p:cSldViewPr snapToGrid="0">
      <p:cViewPr varScale="1">
        <p:scale>
          <a:sx n="94" d="100"/>
          <a:sy n="94" d="100"/>
        </p:scale>
        <p:origin x="1248" y="192"/>
      </p:cViewPr>
      <p:guideLst/>
    </p:cSldViewPr>
  </p:slideViewPr>
  <p:outlineViewPr>
    <p:cViewPr>
      <p:scale>
        <a:sx n="33" d="100"/>
        <a:sy n="33" d="100"/>
      </p:scale>
      <p:origin x="0" y="-478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7B81E-5903-3F4E-9C9B-232AADC4446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36A95-BB31-574E-8CD1-E671EE5D4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36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Hello Everyone, I am Kelechi Kalu, I am a  4</a:t>
            </a:r>
            <a:r>
              <a:rPr lang="en-US" sz="1200" baseline="30000" dirty="0"/>
              <a:t>th</a:t>
            </a:r>
            <a:r>
              <a:rPr lang="en-US" sz="1200" dirty="0"/>
              <a:t> year </a:t>
            </a:r>
            <a:r>
              <a:rPr lang="en-US" sz="1200" dirty="0" err="1"/>
              <a:t>Phd</a:t>
            </a:r>
            <a:r>
              <a:rPr lang="en-US" sz="1200" dirty="0"/>
              <a:t> student advised by  Dr James Davis from Purdue University.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36A95-BB31-574E-8CD1-E671EE5D44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10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2F1B5-6251-2717-2575-C6D7FE52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E6C43-F896-CDDB-BA9D-4EE7BA9A0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DBC481-FACC-DDF3-93BF-CCC31B0D0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software signing, implemented by tools such as PGP and GPG, has long been difficult for developers to use.</a:t>
            </a:r>
          </a:p>
          <a:p>
            <a:r>
              <a:rPr lang="en-US" dirty="0"/>
              <a:t>Developers must generate, protect, distribute, and rotate long-lived cryptographic keys.</a:t>
            </a:r>
          </a:p>
          <a:p>
            <a:endParaRPr lang="en-US" dirty="0"/>
          </a:p>
          <a:p>
            <a:r>
              <a:rPr lang="en-US" dirty="0"/>
              <a:t>Decades of usable security research—including the classic Why Johnny Can't Encrypt studies—have shown that these requirements create significant usability barriers.</a:t>
            </a:r>
          </a:p>
          <a:p>
            <a:r>
              <a:rPr lang="en-US" dirty="0"/>
              <a:t>As a result, traditional signing has suffered from limited adoption despite its security benefits.</a:t>
            </a:r>
          </a:p>
          <a:p>
            <a:endParaRPr lang="en-US" dirty="0"/>
          </a:p>
          <a:p>
            <a:r>
              <a:rPr lang="en-US" dirty="0"/>
              <a:t>To address these challenges, the community introduced identity-based signing systems, such as Sigstore, that automate key management through short-lived, identity-bound certificates.</a:t>
            </a:r>
          </a:p>
          <a:p>
            <a:r>
              <a:rPr lang="en-US" dirty="0"/>
              <a:t>But this raises an important question: Did identity-based signing actually solve the usability problem?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3FEB5-C110-476A-2AFA-97F24469AD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36A95-BB31-574E-8CD1-E671EE5D44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584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77F4E-7914-E8F6-3727-A28DCD22B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B21C7-3EB3-D3B2-A205-1015F0C81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38269F-3E3C-37D3-CF7C-22AAFE05F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software signing, implemented by tools such as PGP and GPG, has long been difficult for developers to use.</a:t>
            </a:r>
          </a:p>
          <a:p>
            <a:r>
              <a:rPr lang="en-US" dirty="0"/>
              <a:t>Developers must generate, protect, distribute, and rotate long-lived cryptographic keys.</a:t>
            </a:r>
          </a:p>
          <a:p>
            <a:endParaRPr lang="en-US" dirty="0"/>
          </a:p>
          <a:p>
            <a:r>
              <a:rPr lang="en-US" dirty="0"/>
              <a:t>Decades of usable security research—including the classic Why Johnny Can't Encrypt studies—have shown that these requirements create significant usability barriers.</a:t>
            </a:r>
          </a:p>
          <a:p>
            <a:r>
              <a:rPr lang="en-US" dirty="0"/>
              <a:t>As a result, traditional signing has suffered from limited adoption despite its security benefits.</a:t>
            </a:r>
          </a:p>
          <a:p>
            <a:endParaRPr lang="en-US" dirty="0"/>
          </a:p>
          <a:p>
            <a:r>
              <a:rPr lang="en-US" dirty="0"/>
              <a:t>To address these challenges, the community introduced identity-based signing systems, such as Sigstore, that automate key management through short-lived, identity-bound certificates.</a:t>
            </a:r>
          </a:p>
          <a:p>
            <a:r>
              <a:rPr lang="en-US" dirty="0"/>
              <a:t>But this raises an important question: Did identity-based signing actually solve the usability problem?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19234-CE39-86B9-998A-D75C7127C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36A95-BB31-574E-8CD1-E671EE5D44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64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95CF2-FF87-9EC6-DA63-6B35D2CC1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63ACF3-2A54-7DEC-94E0-64CBF4218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C0D7E-B3DB-EC63-ABE0-DF4F6133A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software signing, implemented by tools such as PGP and GPG, has long been difficult for developers to use.</a:t>
            </a:r>
          </a:p>
          <a:p>
            <a:r>
              <a:rPr lang="en-US" dirty="0"/>
              <a:t>Developers must generate, protect, distribute, and rotate long-lived cryptographic keys.</a:t>
            </a:r>
          </a:p>
          <a:p>
            <a:endParaRPr lang="en-US" dirty="0"/>
          </a:p>
          <a:p>
            <a:r>
              <a:rPr lang="en-US" dirty="0"/>
              <a:t>Decades of usable security research—including the classic Why Johnny Can't Encrypt studies—have shown that these requirements create significant usability barriers.</a:t>
            </a:r>
          </a:p>
          <a:p>
            <a:r>
              <a:rPr lang="en-US" dirty="0"/>
              <a:t>As a result, traditional signing has suffered from limited adoption despite its security benefits.</a:t>
            </a:r>
          </a:p>
          <a:p>
            <a:endParaRPr lang="en-US" dirty="0"/>
          </a:p>
          <a:p>
            <a:r>
              <a:rPr lang="en-US" dirty="0"/>
              <a:t>To address these challenges, the community introduced identity-based signing systems, such as Sigstore, that automate key management through short-lived, identity-bound certificates.</a:t>
            </a:r>
          </a:p>
          <a:p>
            <a:r>
              <a:rPr lang="en-US" dirty="0"/>
              <a:t>But this raises an important question: Did identity-based signing actually solve the usability problem?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86550-FCBC-4BED-C132-490601CB58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36A95-BB31-574E-8CD1-E671EE5D44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441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D9BB1-5CED-8B6C-5297-46A8521A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C02173-3492-0524-D26C-DEF15BD6A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09164-B9AF-7A74-C210-8D0AB4EC7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software signing, implemented by tools such as PGP and GPG, has long been difficult for developers to use.</a:t>
            </a:r>
          </a:p>
          <a:p>
            <a:r>
              <a:rPr lang="en-US" dirty="0"/>
              <a:t>Developers must generate, protect, distribute, and rotate long-lived cryptographic keys.</a:t>
            </a:r>
          </a:p>
          <a:p>
            <a:endParaRPr lang="en-US" dirty="0"/>
          </a:p>
          <a:p>
            <a:r>
              <a:rPr lang="en-US" dirty="0"/>
              <a:t>Decades of usable security research—including the classic Why Johnny Can't Encrypt studies—have shown that these requirements create significant usability barriers.</a:t>
            </a:r>
          </a:p>
          <a:p>
            <a:r>
              <a:rPr lang="en-US" dirty="0"/>
              <a:t>As a result, traditional signing has suffered from limited adoption despite its security benefits.</a:t>
            </a:r>
          </a:p>
          <a:p>
            <a:endParaRPr lang="en-US" dirty="0"/>
          </a:p>
          <a:p>
            <a:r>
              <a:rPr lang="en-US" dirty="0"/>
              <a:t>To address these challenges, the community introduced identity-based signing systems, such as Sigstore, that automate key management through short-lived, identity-bound certificates.</a:t>
            </a:r>
          </a:p>
          <a:p>
            <a:r>
              <a:rPr lang="en-US" dirty="0"/>
              <a:t>But this raises an important question: Did identity-based signing actually solve the usability problem?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7668B-B228-EA5B-A165-5E44A219C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36A95-BB31-574E-8CD1-E671EE5D44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958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36479BF8-1029-430B-6D26-DDB02097A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8:notes">
            <a:extLst>
              <a:ext uri="{FF2B5EF4-FFF2-40B4-BE49-F238E27FC236}">
                <a16:creationId xmlns:a16="http://schemas.microsoft.com/office/drawing/2014/main" id="{1221BCD3-8EA2-41A2-6A4E-DCC5DE7FEB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p8:notes">
            <a:extLst>
              <a:ext uri="{FF2B5EF4-FFF2-40B4-BE49-F238E27FC236}">
                <a16:creationId xmlns:a16="http://schemas.microsoft.com/office/drawing/2014/main" id="{AF6D1C0A-0BFC-298E-F9DF-23B211ED34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dirty="0"/>
              <a:t>To answer this question, we conducted the first qualitative usability study of identity-based software signing using Sigstore as our case study, since it was the most widely adopted identity-based signing platform at the time of our study.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dirty="0"/>
              <a:t>We interviewed 17 experienced security practitioners across 13 organizations, 13 of whom had implemented Sigstore in production. Interviews lasted a median of 50 minutes.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dirty="0"/>
              <a:t>We then analyzed the interviews using thematic analysis and interpreted the findings through a formative usability framework to understand what helps—and what hinders—the adoption of identity-based signing.</a:t>
            </a:r>
          </a:p>
        </p:txBody>
      </p:sp>
      <p:sp>
        <p:nvSpPr>
          <p:cNvPr id="397" name="Google Shape;397;p8:notes">
            <a:extLst>
              <a:ext uri="{FF2B5EF4-FFF2-40B4-BE49-F238E27FC236}">
                <a16:creationId xmlns:a16="http://schemas.microsoft.com/office/drawing/2014/main" id="{F8994F80-6371-79CE-EBCB-036D61EAA6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55794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5094C-CF45-A6EA-D8E6-18AD1291E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FC7B67-5362-A165-095F-85D83A7C0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D0F855-562D-3981-FBD3-34D9B71D8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short answer to our research question is yes—but not completely.</a:t>
            </a:r>
          </a:p>
          <a:p>
            <a:r>
              <a:rPr lang="en-US" dirty="0"/>
              <a:t>Practitioners consistently told us that Sigstore succeeds at solving many of the traditional usability problems.</a:t>
            </a:r>
          </a:p>
          <a:p>
            <a:r>
              <a:rPr lang="en-US" dirty="0"/>
              <a:t>In particular, they highlighted easier signing workflows, automated key management through short-lived certificates, and better integration with modern CI/CD ecosystems.</a:t>
            </a:r>
          </a:p>
          <a:p>
            <a:endParaRPr lang="en-US" dirty="0"/>
          </a:p>
          <a:p>
            <a:r>
              <a:rPr lang="en-US" dirty="0"/>
              <a:t>(pause and gesture to the left table)</a:t>
            </a:r>
          </a:p>
          <a:p>
            <a:endParaRPr lang="en-US" dirty="0"/>
          </a:p>
          <a:p>
            <a:r>
              <a:rPr lang="en-US" dirty="0"/>
              <a:t>But the friction didn't disappear—it moved.</a:t>
            </a:r>
          </a:p>
          <a:p>
            <a:r>
              <a:rPr lang="en-US" dirty="0"/>
              <a:t>Instead of struggling with cryptographic keys, organizations now struggle with integrating transparency logs, deploying private instances, documentation, infrastructure costs, and performance constraints.</a:t>
            </a:r>
          </a:p>
          <a:p>
            <a:r>
              <a:rPr lang="en-US" dirty="0"/>
              <a:t>So identity-based signing reduces the burden of key management, but introduces a new class of operational and organizational usability challenges.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859F6-9947-EAC1-DE6F-FC015B5DE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36A95-BB31-574E-8CD1-E671EE5D44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88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72F0B-CB40-A789-2639-D73F13FB8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D9CBA-3A20-DB11-B464-A91733D50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87660A-B1DF-6560-101D-04372855B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short answer to our research question is yes—but not completely.</a:t>
            </a:r>
          </a:p>
          <a:p>
            <a:endParaRPr lang="en-US" dirty="0"/>
          </a:p>
          <a:p>
            <a:r>
              <a:rPr lang="en-US" dirty="0"/>
              <a:t>Practitioners consistently told us that Sigstore succeeds at solving many of the traditional usability problems.</a:t>
            </a:r>
          </a:p>
          <a:p>
            <a:r>
              <a:rPr lang="en-US" dirty="0"/>
              <a:t>In particular, they highlighted easier signing workflows, automated key management through short-lived certificates, and better integration with modern CI/CD ecosystems.</a:t>
            </a:r>
          </a:p>
          <a:p>
            <a:endParaRPr lang="en-US" dirty="0"/>
          </a:p>
          <a:p>
            <a:r>
              <a:rPr lang="en-US" b="1" dirty="0"/>
              <a:t>(pause and gesture to the left table)</a:t>
            </a:r>
          </a:p>
          <a:p>
            <a:endParaRPr lang="en-US" dirty="0"/>
          </a:p>
          <a:p>
            <a:r>
              <a:rPr lang="en-US" dirty="0"/>
              <a:t>But the friction didn't disappear—it moved.</a:t>
            </a:r>
          </a:p>
          <a:p>
            <a:endParaRPr lang="en-US" dirty="0"/>
          </a:p>
          <a:p>
            <a:r>
              <a:rPr lang="en-US" dirty="0"/>
              <a:t>Instead of struggling with cryptographic keys, organizations now struggle with integrating transparency logs, deploying private instances, documentation, infrastructure costs, and performance constraints.</a:t>
            </a:r>
          </a:p>
          <a:p>
            <a:r>
              <a:rPr lang="en-US" dirty="0"/>
              <a:t>So identity-based signing reduces the burden of key management, but introduces a new class of operational and organizational usability challenges.</a:t>
            </a:r>
          </a:p>
          <a:p>
            <a:endParaRPr lang="en-US" dirty="0"/>
          </a:p>
          <a:p>
            <a:r>
              <a:rPr lang="en-US" b="1" dirty="0"/>
              <a:t>This naturally led us to ask a second question: </a:t>
            </a:r>
            <a:r>
              <a:rPr lang="en-US" b="1" i="1" dirty="0"/>
              <a:t>What actually determines whether organizations adopt these tools?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8AADC-9AA5-00AD-B6EA-6EE6F9021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36A95-BB31-574E-8CD1-E671EE5D44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82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C4AC6-B969-AE90-D528-82160FF31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A3554-338C-FC30-6AB2-52872055C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533168-FAC3-A178-12B8-764E578B1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answer that question, we grouped participants' experiences into three categories.</a:t>
            </a:r>
          </a:p>
          <a:p>
            <a:endParaRPr lang="en-US" b="1" dirty="0"/>
          </a:p>
          <a:p>
            <a:r>
              <a:rPr lang="en-US" b="1" dirty="0"/>
              <a:t>Push factors</a:t>
            </a:r>
            <a:r>
              <a:rPr lang="en-US" dirty="0"/>
              <a:t> are frustrations with legacy key-managed signing that motivate organizations to look for alternatives.</a:t>
            </a:r>
          </a:p>
          <a:p>
            <a:endParaRPr lang="en-US" dirty="0"/>
          </a:p>
          <a:p>
            <a:r>
              <a:rPr lang="en-US" b="1" dirty="0"/>
              <a:t>Pull factors</a:t>
            </a:r>
            <a:r>
              <a:rPr lang="en-US" dirty="0"/>
              <a:t> are the benefits of identity-based signing, such as automated key management and easier integration.</a:t>
            </a:r>
          </a:p>
          <a:p>
            <a:endParaRPr lang="en-US" dirty="0"/>
          </a:p>
          <a:p>
            <a:r>
              <a:rPr lang="en-US" b="1" dirty="0"/>
              <a:t>Barrier factors</a:t>
            </a:r>
            <a:r>
              <a:rPr lang="en-US" dirty="0"/>
              <a:t> are the remaining organizational and technical challenges that continue to slow adoption.</a:t>
            </a:r>
          </a:p>
          <a:p>
            <a:endParaRPr lang="en-US" dirty="0"/>
          </a:p>
          <a:p>
            <a:r>
              <a:rPr lang="en-US" b="1" dirty="0"/>
              <a:t>What surprised us is that organizations don't adopt identity-based signing simply because it offers better technology. They adopt because legacy workflows become too painful, while organizational policies, deployment constraints, and privacy concerns continue to shape whether adoption succeeds.</a:t>
            </a:r>
          </a:p>
          <a:p>
            <a:endParaRPr lang="en-US" b="1" dirty="0"/>
          </a:p>
          <a:p>
            <a:r>
              <a:rPr lang="en-US" dirty="0"/>
              <a:t>Ultimately, improving cryptography is only part of the solution—widespread adoption requires designing for organizational usability.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C204E-92C9-7F31-926E-3AFBCB889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36A95-BB31-574E-8CD1-E671EE5D44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355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048E1-E1C4-8071-790A-84ED5B2EB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A2791-E969-E94F-BF90-6F6537A8B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6BA21-B8EF-3EE3-F04F-0AF4ED1AB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main takeaway is that identity-based signing successfully addresses many of the cryptographic usability problems that limited traditional signing. </a:t>
            </a:r>
          </a:p>
          <a:p>
            <a:endParaRPr lang="en-US" dirty="0"/>
          </a:p>
          <a:p>
            <a:r>
              <a:rPr lang="en-US" dirty="0"/>
              <a:t>However, our interviews show that its widespread adoption now depends on addressing organizational usability challenges. </a:t>
            </a:r>
          </a:p>
          <a:p>
            <a:endParaRPr lang="en-US" dirty="0"/>
          </a:p>
          <a:p>
            <a:r>
              <a:rPr lang="en-US" dirty="0"/>
              <a:t>Based on these findings, we recommend three design priorities for future identity-based signing tools: better support for enterprise and private deployments, tighter integration into existing developer workflows, and more usable transparency through improved privacy controls and documentation. </a:t>
            </a:r>
          </a:p>
          <a:p>
            <a:endParaRPr lang="en-US" dirty="0"/>
          </a:p>
          <a:p>
            <a:r>
              <a:rPr lang="en-US" dirty="0"/>
              <a:t>Thank you.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AAAAC-4231-7BF9-D7E4-28099192F3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36A95-BB31-574E-8CD1-E671EE5D44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36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DA5E8-A02F-3705-2B75-0AFA1EBCF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4417C-DE30-6DD2-DBD3-0DB739AF3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1CFF0-B4A1-BA77-FC84-F16A448CA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525A0-C5F1-A5FE-1805-9EB85F5A0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Gokkaya, B., Aniello, L., &amp; Halak, B. (2023). Software supply chain: review of attacks, risk assessment strategies and security controls. arXiv preprint arXiv:2305.1415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129F5-74D6-F770-0268-D84974847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3B8C-0A0F-434B-8FF2-082E0B55D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6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86E56-D825-7D19-FF6B-99F8EBFDF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C9FC4-4F8A-BE29-F899-5B5649381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D741F-DDA6-E473-893B-172EB36C3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62F3F-1912-E1A8-ACDF-01B99CD8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Gokkaya, B., Aniello, L., &amp; Halak, B. (2023). Software supply chain: review of attacks, risk assessment strategies and security controls. arXiv preprint arXiv:2305.1415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D8471-54DE-8C31-2F97-DC92A6B5B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3B8C-0A0F-434B-8FF2-082E0B55D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65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CFEF3-C867-E667-314E-0EBEA1FA8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0BCCF-9521-5E27-A06E-42123C406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27892-118A-810B-E6B6-B97981A2A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D72DC-E2BC-F1B7-91F9-5871296EE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Gokkaya, B., Aniello, L., &amp; Halak, B. (2023). Software supply chain: review of attacks, risk assessment strategies and security controls. arXiv preprint arXiv:2305.1415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40BCD-BDDF-9D0E-3FB7-F9C49A8F9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3B8C-0A0F-434B-8FF2-082E0B55D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44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C435-E09F-7352-10AD-F40972CFC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AD3B1-2E24-7674-DB04-A126E0599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833CF-4E11-EBB2-39F7-F1B2E54EC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7D5A0-6E1D-6D9F-FDD1-1E5E925DE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33515-56C8-1654-A049-8ED6E30A6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Gokkaya, B., Aniello, L., &amp; Halak, B. (2023). Software supply chain: review of attacks, risk assessment strategies and security controls. arXiv preprint arXiv:2305.1415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0E1AB-C82A-52BE-EAAB-1AC0FB4EC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3B8C-0A0F-434B-8FF2-082E0B55D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75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7B143-2B5D-7BBF-EF3C-4332E8ADB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D2929-A757-5C5C-800D-F948A190E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3CEE8-DBC0-16F4-43CA-8324E34D6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35EB3C-E340-2ABC-DD28-806C3C041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FFFF66-EF0D-AFD1-2AAC-1D10C37D27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B44D30-F4FA-35D6-624D-061C9136A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4F6309-1DAA-698A-5F8A-D2116BA6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Gokkaya, B., Aniello, L., &amp; Halak, B. (2023). Software supply chain: review of attacks, risk assessment strategies and security controls. arXiv preprint arXiv:2305.1415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B66FFE-5A47-73B6-476F-FBA826505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3B8C-0A0F-434B-8FF2-082E0B55D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57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17997-E9F0-39C1-F108-60C6A9CF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AF22F3-DB57-B28A-4F20-CA14BBCD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2C0AF3-EC84-B8B0-ED39-6042F1658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Gokkaya, B., Aniello, L., &amp; Halak, B. (2023). Software supply chain: review of attacks, risk assessment strategies and security controls. arXiv preprint arXiv:2305.1415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256ED-8050-A1C9-4E7E-C9CE1E259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3B8C-0A0F-434B-8FF2-082E0B55D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069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9FC79D-E015-4FC2-54F3-B7575E9E4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A8E6F0-118E-3916-A6CD-5F7271AF2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Gokkaya, B., Aniello, L., &amp; Halak, B. (2023). Software supply chain: review of attacks, risk assessment strategies and security controls. arXiv preprint arXiv:2305.1415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B9060-86F4-4563-333F-01975C964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3B8C-0A0F-434B-8FF2-082E0B55D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86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B4FB4-4BF2-DCB6-64F5-4B9BFFDF9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8A7D2-53D4-AF1E-81E3-57041430E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2BB6F-038D-6F9C-676E-960E6038A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60BAF-05C2-7D83-A4BD-2D079B391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7DB943-DE30-2BD0-C79D-2F30DA55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Gokkaya, B., Aniello, L., &amp; Halak, B. (2023). Software supply chain: review of attacks, risk assessment strategies and security controls. arXiv preprint arXiv:2305.1415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058D4-D088-959F-82AD-42F0D9CE0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3B8C-0A0F-434B-8FF2-082E0B55D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99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415E5-5BF7-90D5-BE10-59EE019E9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E10BBA-29E4-88F4-D1C6-5E9F8EFDC7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DC137-4A59-D023-DB59-DAE592A18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AAD8F-F494-AEFB-D67A-5A9FDA1C9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D38A1-AA9A-6ACD-4421-6B7114F5E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Gokkaya, B., Aniello, L., &amp; Halak, B. (2023). Software supply chain: review of attacks, risk assessment strategies and security controls. arXiv preprint arXiv:2305.1415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11EFB-5E63-1B4E-8252-32FFB0BE0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3B8C-0A0F-434B-8FF2-082E0B55D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813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4BFD3-B646-F65C-0B38-2CB9DCD16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F0242-8149-EC08-0002-410E1482C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E1CDE-5F48-C655-393F-0363A38D1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5FB99-63B2-064B-10B7-9A996C893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Gokkaya, B., Aniello, L., &amp; Halak, B. (2023). Software supply chain: review of attacks, risk assessment strategies and security controls. arXiv preprint arXiv:2305.1415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289E-5EE8-410A-0C88-919943824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3B8C-0A0F-434B-8FF2-082E0B55D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96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0977CD-974A-F97A-EF3F-2AE2C08905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B363D-B520-C04D-92CB-A9A52481BF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13A12-2ED0-343D-C432-E4012781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9B18-2FA5-88A9-9744-37C716397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Gokkaya, B., Aniello, L., &amp; Halak, B. (2023). Software supply chain: review of attacks, risk assessment strategies and security controls. arXiv preprint arXiv:2305.1415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D416C-929A-EDD9-2E5E-77E58D9D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D3B8C-0A0F-434B-8FF2-082E0B55D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50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Just bor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66">
            <a:extLst>
              <a:ext uri="{FF2B5EF4-FFF2-40B4-BE49-F238E27FC236}">
                <a16:creationId xmlns:a16="http://schemas.microsoft.com/office/drawing/2014/main" id="{5FBB5167-3962-F644-A1B0-164B48533467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49427" y="0"/>
            <a:ext cx="12346116" cy="0"/>
          </a:xfrm>
          <a:prstGeom prst="line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 sz="1800"/>
          </a:p>
        </p:txBody>
      </p:sp>
      <p:sp>
        <p:nvSpPr>
          <p:cNvPr id="4" name="Line 66">
            <a:extLst>
              <a:ext uri="{FF2B5EF4-FFF2-40B4-BE49-F238E27FC236}">
                <a16:creationId xmlns:a16="http://schemas.microsoft.com/office/drawing/2014/main" id="{E355375E-B5F3-774A-87F7-3A95BA8BDF7B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77058" y="6858000"/>
            <a:ext cx="12346116" cy="0"/>
          </a:xfrm>
          <a:prstGeom prst="line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 sz="18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36F63A-CE5C-9B40-933E-022B0D8B1C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638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69531" y="934481"/>
            <a:ext cx="11410357" cy="552302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 altLang="ko-KR" dirty="0"/>
              <a:t>Words</a:t>
            </a:r>
            <a:endParaRPr lang="ko-KR" altLang="en-US" dirty="0"/>
          </a:p>
          <a:p>
            <a:pPr lvl="1"/>
            <a:r>
              <a:rPr lang="en-US" altLang="ko-KR" dirty="0"/>
              <a:t>Words</a:t>
            </a:r>
            <a:endParaRPr lang="ko-KR" altLang="en-US" dirty="0"/>
          </a:p>
          <a:p>
            <a:pPr lvl="2"/>
            <a:r>
              <a:rPr lang="en-US" altLang="ko-KR" dirty="0"/>
              <a:t>Words</a:t>
            </a:r>
          </a:p>
          <a:p>
            <a:pPr lvl="3"/>
            <a:r>
              <a:rPr lang="en-US" altLang="ko-KR" dirty="0"/>
              <a:t>Words</a:t>
            </a:r>
          </a:p>
          <a:p>
            <a:pPr lvl="4"/>
            <a:r>
              <a:rPr lang="en-US" altLang="ko-KR" dirty="0"/>
              <a:t>Words</a:t>
            </a:r>
            <a:endParaRPr lang="ko-KR" alt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 hasCustomPrompt="1"/>
          </p:nvPr>
        </p:nvSpPr>
        <p:spPr>
          <a:xfrm>
            <a:off x="369531" y="118429"/>
            <a:ext cx="11410357" cy="638175"/>
          </a:xfrm>
          <a:noFill/>
          <a:ln>
            <a:noFill/>
          </a:ln>
        </p:spPr>
        <p:txBody>
          <a:bodyPr/>
          <a:lstStyle>
            <a:lvl1pPr algn="l">
              <a:defRPr b="0"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4" name="Line 66">
            <a:extLst>
              <a:ext uri="{FF2B5EF4-FFF2-40B4-BE49-F238E27FC236}">
                <a16:creationId xmlns:a16="http://schemas.microsoft.com/office/drawing/2014/main" id="{67B3E873-1394-3543-8BD2-2C910090ECBD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369531" y="756603"/>
            <a:ext cx="11410359" cy="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 sz="180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03002C-B894-EA4E-9F9C-C4794549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35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1_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4"/>
          <p:cNvSpPr txBox="1">
            <a:spLocks noGrp="1"/>
          </p:cNvSpPr>
          <p:nvPr>
            <p:ph type="body" idx="1"/>
          </p:nvPr>
        </p:nvSpPr>
        <p:spPr>
          <a:xfrm>
            <a:off x="369531" y="1305005"/>
            <a:ext cx="11410357" cy="5166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1219170" lvl="1" indent="-40639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/>
            </a:lvl2pPr>
            <a:lvl3pPr marL="1828754" lvl="2" indent="-40639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3047924" lvl="4" indent="-45718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title"/>
          </p:nvPr>
        </p:nvSpPr>
        <p:spPr>
          <a:xfrm>
            <a:off x="369531" y="118430"/>
            <a:ext cx="10725149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950"/>
              <a:buFont typeface="Calibri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9" name="Google Shape;29;p34"/>
          <p:cNvCxnSpPr/>
          <p:nvPr/>
        </p:nvCxnSpPr>
        <p:spPr>
          <a:xfrm>
            <a:off x="369533" y="756603"/>
            <a:ext cx="11410359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0" name="Google Shape;30;p34"/>
          <p:cNvSpPr>
            <a:spLocks noGrp="1"/>
          </p:cNvSpPr>
          <p:nvPr>
            <p:ph type="sldNum" idx="12"/>
          </p:nvPr>
        </p:nvSpPr>
        <p:spPr>
          <a:xfrm>
            <a:off x="11149147" y="6457507"/>
            <a:ext cx="487680" cy="36576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04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BB17B7-BCB2-03D7-80F1-119F49B30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05B3D-D82B-CA81-7E3C-79D1C31FF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CA8B8-4819-2F9C-8537-C03084280E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3A85A-2B97-7483-34EA-D8F13138B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Gokkaya, B., Aniello, L., &amp; Halak, B. (2023). Software supply chain: review of attacks, risk assessment strategies and security controls. arXiv preprint arXiv:2305.1415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F4878-A4B3-0A4E-6465-C2641135F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D3B8C-0A0F-434B-8FF2-082E0B55D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335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F2441FA-E529-96C1-2CC5-73137EB258EE}"/>
              </a:ext>
            </a:extLst>
          </p:cNvPr>
          <p:cNvSpPr txBox="1">
            <a:spLocks/>
          </p:cNvSpPr>
          <p:nvPr/>
        </p:nvSpPr>
        <p:spPr>
          <a:xfrm>
            <a:off x="27013" y="219039"/>
            <a:ext cx="12159013" cy="11638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 cap="none" spc="200" baseline="0">
                <a:solidFill>
                  <a:srgbClr val="26262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altLang="zh-CN" sz="3800" b="1" dirty="0">
                <a:latin typeface="Calibri"/>
                <a:ea typeface="宋体"/>
                <a:cs typeface="Calibri"/>
              </a:rPr>
              <a:t>Why Johnny Adopts Identity-Based Software Signing: A Usability Case Study of Sigstore </a:t>
            </a:r>
            <a:endParaRPr lang="en-US" altLang="zh-CN" sz="3800" dirty="0">
              <a:solidFill>
                <a:srgbClr val="242424"/>
              </a:solidFill>
              <a:highlight>
                <a:srgbClr val="FFFFFF"/>
              </a:highlight>
              <a:latin typeface="Verdana" panose="020B0604030504040204" pitchFamily="34" charset="0"/>
              <a:ea typeface="宋体"/>
              <a:cs typeface="Calibri"/>
            </a:endParaRPr>
          </a:p>
        </p:txBody>
      </p:sp>
      <p:pic>
        <p:nvPicPr>
          <p:cNvPr id="37" name="Google Shape;259;g5505122360270894_151">
            <a:extLst>
              <a:ext uri="{FF2B5EF4-FFF2-40B4-BE49-F238E27FC236}">
                <a16:creationId xmlns:a16="http://schemas.microsoft.com/office/drawing/2014/main" id="{A6EE0F0E-EE17-F7C3-97AA-514E125E04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85269"/>
            <a:ext cx="5190281" cy="88502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3BD0D5EC-4B20-46E1-5CC7-1EAF6B241B9D}"/>
              </a:ext>
            </a:extLst>
          </p:cNvPr>
          <p:cNvSpPr/>
          <p:nvPr/>
        </p:nvSpPr>
        <p:spPr>
          <a:xfrm flipV="1">
            <a:off x="433833" y="5715674"/>
            <a:ext cx="11223448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9FF82-AEF9-FCC7-E8D4-52589E59FE7C}"/>
              </a:ext>
            </a:extLst>
          </p:cNvPr>
          <p:cNvSpPr txBox="1"/>
          <p:nvPr/>
        </p:nvSpPr>
        <p:spPr>
          <a:xfrm>
            <a:off x="231570" y="4630122"/>
            <a:ext cx="17877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Kelechi</a:t>
            </a:r>
            <a:r>
              <a:rPr lang="en-US" sz="2800" b="1" dirty="0"/>
              <a:t> </a:t>
            </a:r>
            <a:r>
              <a:rPr lang="en-US" sz="2000" b="1" dirty="0"/>
              <a:t>G. Kalu</a:t>
            </a:r>
          </a:p>
          <a:p>
            <a:r>
              <a:rPr lang="en-US" sz="1600" dirty="0" err="1"/>
              <a:t>kalu@purdue.edu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B3A612-FDED-9327-5548-151C24C885E3}"/>
              </a:ext>
            </a:extLst>
          </p:cNvPr>
          <p:cNvSpPr txBox="1"/>
          <p:nvPr/>
        </p:nvSpPr>
        <p:spPr>
          <a:xfrm>
            <a:off x="4258036" y="5315564"/>
            <a:ext cx="16602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Tanmay Singla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3BE11-090F-3454-49F8-68439CE516DB}"/>
              </a:ext>
            </a:extLst>
          </p:cNvPr>
          <p:cNvSpPr txBox="1"/>
          <p:nvPr/>
        </p:nvSpPr>
        <p:spPr>
          <a:xfrm>
            <a:off x="2545179" y="4002109"/>
            <a:ext cx="16739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Sofia Okorafor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5821C3-11F4-5F9B-F6CE-4EFD87318F67}"/>
              </a:ext>
            </a:extLst>
          </p:cNvPr>
          <p:cNvSpPr txBox="1"/>
          <p:nvPr/>
        </p:nvSpPr>
        <p:spPr>
          <a:xfrm>
            <a:off x="7814480" y="5291291"/>
            <a:ext cx="23825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Santiago Torres-Arias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B74D05-233C-FD4E-8DD4-F4B2C29B522B}"/>
              </a:ext>
            </a:extLst>
          </p:cNvPr>
          <p:cNvSpPr txBox="1"/>
          <p:nvPr/>
        </p:nvSpPr>
        <p:spPr>
          <a:xfrm>
            <a:off x="10134999" y="4138609"/>
            <a:ext cx="2069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James C. Davis</a:t>
            </a:r>
          </a:p>
          <a:p>
            <a:r>
              <a:rPr lang="en-US" sz="1600" dirty="0" err="1"/>
              <a:t>davisjam@purdue.edu</a:t>
            </a:r>
            <a:endParaRPr lang="en-US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950410-17D7-E9C4-B1E4-2FFAB4886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17360">
            <a:off x="4285633" y="2974096"/>
            <a:ext cx="1827780" cy="2175328"/>
          </a:xfrm>
          <a:prstGeom prst="rect">
            <a:avLst/>
          </a:prstGeom>
          <a:effectLst>
            <a:outerShdw blurRad="63500" dist="50800" dir="12900000" algn="ctr" rotWithShape="0">
              <a:srgbClr val="000000">
                <a:alpha val="30000"/>
              </a:srgbClr>
            </a:outerShdw>
            <a:reflection endPos="0" dir="5400000" sy="-100000" algn="bl" rotWithShape="0"/>
          </a:effectLst>
          <a:scene3d>
            <a:camera prst="orthographicFront">
              <a:rot lat="0" lon="0" rev="21240000"/>
            </a:camera>
            <a:lightRig rig="threePt" dir="t"/>
          </a:scene3d>
          <a:sp3d contourW="12700">
            <a:bevelT w="0" h="0"/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2420F1-6810-B800-01E4-6C9102DDA6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324658" y="1663632"/>
            <a:ext cx="1569858" cy="2291695"/>
          </a:xfrm>
          <a:prstGeom prst="rect">
            <a:avLst/>
          </a:prstGeom>
          <a:solidFill>
            <a:srgbClr val="FFFFFF">
              <a:shade val="85000"/>
            </a:srgbClr>
          </a:solidFill>
          <a:ln w="5715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028" name="Picture 4" descr="Santiago Torres-Arias - Elmore Family ...">
            <a:extLst>
              <a:ext uri="{FF2B5EF4-FFF2-40B4-BE49-F238E27FC236}">
                <a16:creationId xmlns:a16="http://schemas.microsoft.com/office/drawing/2014/main" id="{A2B51508-C449-4E3E-E1D5-137D4DA28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4207" y="2859779"/>
            <a:ext cx="1569858" cy="2354788"/>
          </a:xfrm>
          <a:prstGeom prst="rect">
            <a:avLst/>
          </a:prstGeom>
          <a:noFill/>
          <a:effectLst>
            <a:outerShdw blurRad="69756" dist="50800" dir="12900000" algn="ctr" rotWithShape="0">
              <a:srgbClr val="000000">
                <a:alpha val="29998"/>
              </a:srgbClr>
            </a:outerShdw>
            <a:reflection stA="45000" endPos="0" dir="5400000" sy="-100000" algn="bl" rotWithShape="0"/>
          </a:effectLst>
          <a:scene3d>
            <a:camera prst="orthographicFront">
              <a:rot lat="0" lon="0" rev="21240000"/>
            </a:camera>
            <a:lightRig rig="threePt" dir="t">
              <a:rot lat="0" lon="0" rev="7200000"/>
            </a:lightRig>
          </a:scene3d>
          <a:sp3d contourW="12700">
            <a:bevelT w="0" h="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person in a white sweater&#10;&#10;AI-generated content may be incorrect.">
            <a:extLst>
              <a:ext uri="{FF2B5EF4-FFF2-40B4-BE49-F238E27FC236}">
                <a16:creationId xmlns:a16="http://schemas.microsoft.com/office/drawing/2014/main" id="{979B6DB8-14B4-B9E4-0542-E2304215CB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570" y="1702607"/>
            <a:ext cx="1882807" cy="2841396"/>
          </a:xfrm>
          <a:prstGeom prst="rect">
            <a:avLst/>
          </a:prstGeom>
          <a:effectLst>
            <a:outerShdw blurRad="50800" dist="50800" dir="13020000" algn="ctr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hreePt" dir="t"/>
          </a:scene3d>
        </p:spPr>
      </p:pic>
      <p:pic>
        <p:nvPicPr>
          <p:cNvPr id="29" name="Picture 2" descr="Google Logo - Free Vectors &amp; PSDs to Download">
            <a:extLst>
              <a:ext uri="{FF2B5EF4-FFF2-40B4-BE49-F238E27FC236}">
                <a16:creationId xmlns:a16="http://schemas.microsoft.com/office/drawing/2014/main" id="{7B78A73B-280E-C946-2061-6CFEBEE79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6293" y="5995555"/>
            <a:ext cx="732720" cy="73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6" descr="A picture containing text, transport, wheel&#10;&#10;Description automatically generated">
            <a:extLst>
              <a:ext uri="{FF2B5EF4-FFF2-40B4-BE49-F238E27FC236}">
                <a16:creationId xmlns:a16="http://schemas.microsoft.com/office/drawing/2014/main" id="{C6268857-1947-5976-7EF3-6C649753DB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5058" y="5845452"/>
            <a:ext cx="1088964" cy="1088964"/>
          </a:xfrm>
          <a:prstGeom prst="rect">
            <a:avLst/>
          </a:prstGeom>
        </p:spPr>
      </p:pic>
      <p:pic>
        <p:nvPicPr>
          <p:cNvPr id="31" name="Picture 14" descr="Logo&#10;&#10;Description automatically generated">
            <a:extLst>
              <a:ext uri="{FF2B5EF4-FFF2-40B4-BE49-F238E27FC236}">
                <a16:creationId xmlns:a16="http://schemas.microsoft.com/office/drawing/2014/main" id="{6BF3D51F-91AA-39E6-6BC1-27B1CABB17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24065" y="5997259"/>
            <a:ext cx="1312185" cy="731016"/>
          </a:xfrm>
          <a:prstGeom prst="rect">
            <a:avLst/>
          </a:prstGeom>
        </p:spPr>
      </p:pic>
      <p:pic>
        <p:nvPicPr>
          <p:cNvPr id="4" name="Picture 3" descr="A person in a military uniform&#10;&#10;AI-generated content may be incorrect.">
            <a:extLst>
              <a:ext uri="{FF2B5EF4-FFF2-40B4-BE49-F238E27FC236}">
                <a16:creationId xmlns:a16="http://schemas.microsoft.com/office/drawing/2014/main" id="{A9C1AF0A-C475-27DD-0244-3834A18CDB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51045">
            <a:off x="2417918" y="1730416"/>
            <a:ext cx="1762112" cy="2202640"/>
          </a:xfrm>
          <a:prstGeom prst="rect">
            <a:avLst/>
          </a:prstGeom>
        </p:spPr>
      </p:pic>
      <p:pic>
        <p:nvPicPr>
          <p:cNvPr id="13" name="Picture 12" descr="Profile photo for Sophie Chen">
            <a:extLst>
              <a:ext uri="{FF2B5EF4-FFF2-40B4-BE49-F238E27FC236}">
                <a16:creationId xmlns:a16="http://schemas.microsoft.com/office/drawing/2014/main" id="{F4FA1A22-894D-7B39-E43B-E3BA15C530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072299">
            <a:off x="6178617" y="1799083"/>
            <a:ext cx="1813315" cy="2293742"/>
          </a:xfrm>
          <a:prstGeom prst="rect">
            <a:avLst/>
          </a:prstGeom>
        </p:spPr>
      </p:pic>
      <p:pic>
        <p:nvPicPr>
          <p:cNvPr id="15" name="Picture 14" descr="Dosiye:CMU logo stack cmyk red.jpg - Wikipedia">
            <a:extLst>
              <a:ext uri="{FF2B5EF4-FFF2-40B4-BE49-F238E27FC236}">
                <a16:creationId xmlns:a16="http://schemas.microsoft.com/office/drawing/2014/main" id="{64489D58-689E-BC1F-4F4C-1D52EDB379D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9498" y="5919403"/>
            <a:ext cx="1478584" cy="885024"/>
          </a:xfrm>
          <a:prstGeom prst="rect">
            <a:avLst/>
          </a:prstGeom>
        </p:spPr>
      </p:pic>
      <p:pic>
        <p:nvPicPr>
          <p:cNvPr id="16" name="Google Shape;268;g5505122360270894_151">
            <a:extLst>
              <a:ext uri="{FF2B5EF4-FFF2-40B4-BE49-F238E27FC236}">
                <a16:creationId xmlns:a16="http://schemas.microsoft.com/office/drawing/2014/main" id="{08F641C7-ACAB-F2B2-5850-4859A4C6D0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81003"/>
          <a:stretch/>
        </p:blipFill>
        <p:spPr>
          <a:xfrm>
            <a:off x="9327" y="4514576"/>
            <a:ext cx="287303" cy="420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68;g5505122360270894_151">
            <a:extLst>
              <a:ext uri="{FF2B5EF4-FFF2-40B4-BE49-F238E27FC236}">
                <a16:creationId xmlns:a16="http://schemas.microsoft.com/office/drawing/2014/main" id="{42F9B144-27A2-AC97-E9A1-2EF07AB306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81003"/>
          <a:stretch/>
        </p:blipFill>
        <p:spPr>
          <a:xfrm>
            <a:off x="2325122" y="3898868"/>
            <a:ext cx="287303" cy="420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68;g5505122360270894_151">
            <a:extLst>
              <a:ext uri="{FF2B5EF4-FFF2-40B4-BE49-F238E27FC236}">
                <a16:creationId xmlns:a16="http://schemas.microsoft.com/office/drawing/2014/main" id="{2E96992B-4EEF-D117-7139-68A782438E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81003"/>
          <a:stretch/>
        </p:blipFill>
        <p:spPr>
          <a:xfrm>
            <a:off x="3978635" y="5141662"/>
            <a:ext cx="287303" cy="420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68;g5505122360270894_151">
            <a:extLst>
              <a:ext uri="{FF2B5EF4-FFF2-40B4-BE49-F238E27FC236}">
                <a16:creationId xmlns:a16="http://schemas.microsoft.com/office/drawing/2014/main" id="{72D8F0C3-52FC-1DA4-34A6-2DFE0D0724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81003"/>
          <a:stretch/>
        </p:blipFill>
        <p:spPr>
          <a:xfrm>
            <a:off x="7925147" y="4920804"/>
            <a:ext cx="287303" cy="420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68;g5505122360270894_151">
            <a:extLst>
              <a:ext uri="{FF2B5EF4-FFF2-40B4-BE49-F238E27FC236}">
                <a16:creationId xmlns:a16="http://schemas.microsoft.com/office/drawing/2014/main" id="{2FBB1752-996D-5729-4760-95464D1F1E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81003"/>
          <a:stretch/>
        </p:blipFill>
        <p:spPr>
          <a:xfrm>
            <a:off x="10102416" y="3742254"/>
            <a:ext cx="287303" cy="420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1" descr="Carnegie Mellon University Logo PNG Vector (CDR) Free Download">
            <a:extLst>
              <a:ext uri="{FF2B5EF4-FFF2-40B4-BE49-F238E27FC236}">
                <a16:creationId xmlns:a16="http://schemas.microsoft.com/office/drawing/2014/main" id="{E20AE27C-2A68-037F-588A-C1221BB9157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0143" y="4228095"/>
            <a:ext cx="685187" cy="685187"/>
          </a:xfrm>
          <a:prstGeom prst="rect">
            <a:avLst/>
          </a:prstGeom>
        </p:spPr>
      </p:pic>
      <p:pic>
        <p:nvPicPr>
          <p:cNvPr id="23" name="Picture 22" descr="Carnegie Mellon University Logo PNG Vector (CDR) Free Download">
            <a:extLst>
              <a:ext uri="{FF2B5EF4-FFF2-40B4-BE49-F238E27FC236}">
                <a16:creationId xmlns:a16="http://schemas.microsoft.com/office/drawing/2014/main" id="{0FB23139-8E8C-B030-B5A9-DBE9B27AD70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01234" y="5777116"/>
            <a:ext cx="1027311" cy="102731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96E12FC-5870-BC3A-0F70-AC0CC7566980}"/>
              </a:ext>
            </a:extLst>
          </p:cNvPr>
          <p:cNvSpPr txBox="1"/>
          <p:nvPr/>
        </p:nvSpPr>
        <p:spPr>
          <a:xfrm>
            <a:off x="6732624" y="4143893"/>
            <a:ext cx="1486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Sophie Chen</a:t>
            </a:r>
          </a:p>
        </p:txBody>
      </p:sp>
    </p:spTree>
    <p:extLst>
      <p:ext uri="{BB962C8B-B14F-4D97-AF65-F5344CB8AC3E}">
        <p14:creationId xmlns:p14="http://schemas.microsoft.com/office/powerpoint/2010/main" val="766748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F7B64-133C-02F2-7342-5629D872D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CD556A-2F8E-12B4-F1D0-C452E67E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61" y="121771"/>
            <a:ext cx="11390277" cy="6381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From Legacy Key-Managed to Identity-Based Signing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78387-4617-D08E-31A8-A161C6AA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3FB446-9420-03E2-08BE-9701A4BC4752}"/>
              </a:ext>
            </a:extLst>
          </p:cNvPr>
          <p:cNvSpPr txBox="1"/>
          <p:nvPr/>
        </p:nvSpPr>
        <p:spPr>
          <a:xfrm>
            <a:off x="218661" y="844148"/>
            <a:ext cx="530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Traditional / Key-Managed Signing</a:t>
            </a:r>
          </a:p>
        </p:txBody>
      </p:sp>
      <p:pic>
        <p:nvPicPr>
          <p:cNvPr id="9" name="Picture 8" descr="A close up of red text&#10;&#10;AI-generated content may be incorrect.">
            <a:extLst>
              <a:ext uri="{FF2B5EF4-FFF2-40B4-BE49-F238E27FC236}">
                <a16:creationId xmlns:a16="http://schemas.microsoft.com/office/drawing/2014/main" id="{3B836692-83E8-3754-CE2C-D8B262915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61" y="1627845"/>
            <a:ext cx="19685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5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D4289-0266-15F3-E869-FC2F050CB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263EA-721C-FE52-8DCE-0472E8E62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E1D5A3-582C-D31C-5D5E-0CF4EE85E62A}"/>
              </a:ext>
            </a:extLst>
          </p:cNvPr>
          <p:cNvSpPr txBox="1"/>
          <p:nvPr/>
        </p:nvSpPr>
        <p:spPr>
          <a:xfrm>
            <a:off x="335925" y="844708"/>
            <a:ext cx="530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Traditional / Key-Managed Signing</a:t>
            </a:r>
          </a:p>
        </p:txBody>
      </p:sp>
      <p:pic>
        <p:nvPicPr>
          <p:cNvPr id="9" name="Picture 8" descr="A close up of red text&#10;&#10;AI-generated content may be incorrect.">
            <a:extLst>
              <a:ext uri="{FF2B5EF4-FFF2-40B4-BE49-F238E27FC236}">
                <a16:creationId xmlns:a16="http://schemas.microsoft.com/office/drawing/2014/main" id="{27215DF0-5C2E-7DEA-B134-7987861A7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" y="1544160"/>
            <a:ext cx="1968500" cy="635000"/>
          </a:xfrm>
          <a:prstGeom prst="rect">
            <a:avLst/>
          </a:prstGeom>
        </p:spPr>
      </p:pic>
      <p:pic>
        <p:nvPicPr>
          <p:cNvPr id="2" name="Picture 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EEC8C9E-126C-4574-7893-CF28C828C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99872">
            <a:off x="1666106" y="2015424"/>
            <a:ext cx="4020160" cy="1376551"/>
          </a:xfrm>
          <a:prstGeom prst="rect">
            <a:avLst/>
          </a:prstGeom>
          <a:ln w="50800">
            <a:solidFill>
              <a:srgbClr val="C000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85604E-792B-8C69-2590-07D53BEFAAC2}"/>
              </a:ext>
            </a:extLst>
          </p:cNvPr>
          <p:cNvSpPr txBox="1"/>
          <p:nvPr/>
        </p:nvSpPr>
        <p:spPr>
          <a:xfrm>
            <a:off x="97333" y="4065068"/>
            <a:ext cx="5540428" cy="2075953"/>
          </a:xfrm>
          <a:prstGeom prst="rect">
            <a:avLst/>
          </a:prstGeom>
          <a:noFill/>
          <a:ln w="444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Key-Managed Signing Usability Challenges</a:t>
            </a:r>
          </a:p>
          <a:p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1" dirty="0"/>
              <a:t>Manual key  management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1" dirty="0"/>
              <a:t>Difficult  key distribution &amp; rotation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1" dirty="0"/>
              <a:t>Steep learning curve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5CFB2F0B-0F0E-3DAA-F498-15220B7C6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25" y="78804"/>
            <a:ext cx="11390312" cy="6381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From Legacy Key-Managed to Identity-Based Signing</a:t>
            </a:r>
          </a:p>
        </p:txBody>
      </p:sp>
    </p:spTree>
    <p:extLst>
      <p:ext uri="{BB962C8B-B14F-4D97-AF65-F5344CB8AC3E}">
        <p14:creationId xmlns:p14="http://schemas.microsoft.com/office/powerpoint/2010/main" val="1106734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6300B-0622-0315-A412-3B98C4A9B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20877-0E99-D41B-4051-0BA1661A0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E54F36-9C5C-9E8F-1701-A75A61447112}"/>
              </a:ext>
            </a:extLst>
          </p:cNvPr>
          <p:cNvSpPr txBox="1"/>
          <p:nvPr/>
        </p:nvSpPr>
        <p:spPr>
          <a:xfrm>
            <a:off x="313840" y="953362"/>
            <a:ext cx="530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Traditional / Key-Managed Signing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0E7C17-431F-0DC5-9B1C-7D6553F6E1EE}"/>
              </a:ext>
            </a:extLst>
          </p:cNvPr>
          <p:cNvSpPr txBox="1"/>
          <p:nvPr/>
        </p:nvSpPr>
        <p:spPr>
          <a:xfrm>
            <a:off x="7297040" y="953362"/>
            <a:ext cx="3504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Identity-Based Signing</a:t>
            </a:r>
          </a:p>
        </p:txBody>
      </p:sp>
      <p:pic>
        <p:nvPicPr>
          <p:cNvPr id="9" name="Picture 8" descr="A close up of red text&#10;&#10;AI-generated content may be incorrect.">
            <a:extLst>
              <a:ext uri="{FF2B5EF4-FFF2-40B4-BE49-F238E27FC236}">
                <a16:creationId xmlns:a16="http://schemas.microsoft.com/office/drawing/2014/main" id="{B7E7B9A2-6051-8CBF-BDBC-C554C6D53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" y="1544160"/>
            <a:ext cx="1968500" cy="63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08B767-7C62-C911-DDA1-7A5E2C3D5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89662"/>
            <a:ext cx="6228671" cy="53076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B8663F-3D38-C1B9-DCA1-8CA2FCEDD797}"/>
              </a:ext>
            </a:extLst>
          </p:cNvPr>
          <p:cNvSpPr txBox="1"/>
          <p:nvPr/>
        </p:nvSpPr>
        <p:spPr>
          <a:xfrm>
            <a:off x="75248" y="4127309"/>
            <a:ext cx="5540428" cy="2075953"/>
          </a:xfrm>
          <a:prstGeom prst="rect">
            <a:avLst/>
          </a:prstGeom>
          <a:noFill/>
          <a:ln w="444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Key-Managed Signing Usability Challenges</a:t>
            </a:r>
          </a:p>
          <a:p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1" dirty="0"/>
              <a:t>Manual Key  Management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1" dirty="0"/>
              <a:t>Difficult  Key distribution &amp; rotation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1" dirty="0"/>
              <a:t>Steep learning curve</a:t>
            </a:r>
          </a:p>
        </p:txBody>
      </p:sp>
      <p:pic>
        <p:nvPicPr>
          <p:cNvPr id="2" name="Picture 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264C7DF-ACCE-0CDE-3799-9B2F2A7FC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99872">
            <a:off x="1169149" y="1977712"/>
            <a:ext cx="4020160" cy="1376551"/>
          </a:xfrm>
          <a:prstGeom prst="rect">
            <a:avLst/>
          </a:prstGeom>
          <a:ln w="50800">
            <a:solidFill>
              <a:srgbClr val="C00000"/>
            </a:solidFill>
          </a:ln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3AAFFDF5-B607-38C2-ED6E-8BD761D09A90}"/>
              </a:ext>
            </a:extLst>
          </p:cNvPr>
          <p:cNvSpPr/>
          <p:nvPr/>
        </p:nvSpPr>
        <p:spPr>
          <a:xfrm>
            <a:off x="5212471" y="3424731"/>
            <a:ext cx="978408" cy="48463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B9598057-C2D9-2CA2-40A1-9A66C3996209}"/>
              </a:ext>
            </a:extLst>
          </p:cNvPr>
          <p:cNvSpPr txBox="1">
            <a:spLocks/>
          </p:cNvSpPr>
          <p:nvPr/>
        </p:nvSpPr>
        <p:spPr>
          <a:xfrm>
            <a:off x="400861" y="121771"/>
            <a:ext cx="11390277" cy="63817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From Legacy Key-Managed to Identity-Based Signing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9882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96901-FB1E-7A8A-1F93-B40F9F5E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E2711-EDBA-2EFB-3B77-68B85CF63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A56833-15E3-E145-2475-3BBDF3973EE7}"/>
              </a:ext>
            </a:extLst>
          </p:cNvPr>
          <p:cNvSpPr txBox="1"/>
          <p:nvPr/>
        </p:nvSpPr>
        <p:spPr>
          <a:xfrm>
            <a:off x="219604" y="953362"/>
            <a:ext cx="530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Traditional / Key-Managed Signing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8EC9C0-4A4B-F41C-3857-1904C77450B6}"/>
              </a:ext>
            </a:extLst>
          </p:cNvPr>
          <p:cNvSpPr txBox="1"/>
          <p:nvPr/>
        </p:nvSpPr>
        <p:spPr>
          <a:xfrm>
            <a:off x="7297040" y="953362"/>
            <a:ext cx="3504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Identity-Based Signing</a:t>
            </a:r>
          </a:p>
        </p:txBody>
      </p:sp>
      <p:pic>
        <p:nvPicPr>
          <p:cNvPr id="9" name="Picture 8" descr="A close up of red text&#10;&#10;AI-generated content may be incorrect.">
            <a:extLst>
              <a:ext uri="{FF2B5EF4-FFF2-40B4-BE49-F238E27FC236}">
                <a16:creationId xmlns:a16="http://schemas.microsoft.com/office/drawing/2014/main" id="{A096B668-01C7-7B91-89C8-C3D8C5F0F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" y="1544160"/>
            <a:ext cx="1968500" cy="63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4C2E69-CABD-69AE-0691-26BF22EDE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211" y="877479"/>
            <a:ext cx="5988606" cy="5103042"/>
          </a:xfrm>
          <a:prstGeom prst="rect">
            <a:avLst/>
          </a:prstGeom>
        </p:spPr>
      </p:pic>
      <p:pic>
        <p:nvPicPr>
          <p:cNvPr id="2" name="Picture 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BCC8697-3CE5-7F11-C70F-F42ABD5503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99872">
            <a:off x="1169149" y="1977712"/>
            <a:ext cx="4020160" cy="1376551"/>
          </a:xfrm>
          <a:prstGeom prst="rect">
            <a:avLst/>
          </a:prstGeom>
          <a:ln w="50800">
            <a:solidFill>
              <a:srgbClr val="C00000"/>
            </a:solidFill>
          </a:ln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46C82AB5-5268-30E3-710C-BF30E3C6077D}"/>
              </a:ext>
            </a:extLst>
          </p:cNvPr>
          <p:cNvSpPr/>
          <p:nvPr/>
        </p:nvSpPr>
        <p:spPr>
          <a:xfrm>
            <a:off x="5224859" y="3261017"/>
            <a:ext cx="978408" cy="48463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75CFF-32BF-9239-639A-9F2DCCBB7FD0}"/>
              </a:ext>
            </a:extLst>
          </p:cNvPr>
          <p:cNvSpPr txBox="1"/>
          <p:nvPr/>
        </p:nvSpPr>
        <p:spPr>
          <a:xfrm>
            <a:off x="5752892" y="5235435"/>
            <a:ext cx="6361436" cy="1569660"/>
          </a:xfrm>
          <a:prstGeom prst="rect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Did identity-based software signing actually solve these usability challenges?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2EA60E-A596-44A9-983D-9E6472BA1A07}"/>
              </a:ext>
            </a:extLst>
          </p:cNvPr>
          <p:cNvSpPr txBox="1"/>
          <p:nvPr/>
        </p:nvSpPr>
        <p:spPr>
          <a:xfrm>
            <a:off x="100308" y="3944312"/>
            <a:ext cx="5540428" cy="2075953"/>
          </a:xfrm>
          <a:prstGeom prst="rect">
            <a:avLst/>
          </a:prstGeom>
          <a:noFill/>
          <a:ln w="444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Key-Managed Signing Usability Challenges</a:t>
            </a:r>
          </a:p>
          <a:p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1" dirty="0"/>
              <a:t>Manual Key  Management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1" dirty="0"/>
              <a:t>Difficult  Key distribution &amp; rotation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1" dirty="0"/>
              <a:t>Steep learning curve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DA1F22F7-C5B6-F10B-22AC-D55EBD55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36525"/>
            <a:ext cx="10877137" cy="6381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From Legacy Key-Managed to Identity-Based Signing</a:t>
            </a:r>
          </a:p>
        </p:txBody>
      </p:sp>
    </p:spTree>
    <p:extLst>
      <p:ext uri="{BB962C8B-B14F-4D97-AF65-F5344CB8AC3E}">
        <p14:creationId xmlns:p14="http://schemas.microsoft.com/office/powerpoint/2010/main" val="7006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 animBg="1"/>
      <p:bldP spid="10" grpId="0" animBg="1"/>
      <p:bldP spid="10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>
          <a:extLst>
            <a:ext uri="{FF2B5EF4-FFF2-40B4-BE49-F238E27FC236}">
              <a16:creationId xmlns:a16="http://schemas.microsoft.com/office/drawing/2014/main" id="{690227E4-770A-003E-8CD2-E8A9C4F2E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8">
            <a:extLst>
              <a:ext uri="{FF2B5EF4-FFF2-40B4-BE49-F238E27FC236}">
                <a16:creationId xmlns:a16="http://schemas.microsoft.com/office/drawing/2014/main" id="{52AE46C4-FC05-D009-3EA5-0B4AC799FF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08479"/>
            <a:ext cx="10725149" cy="6381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43833" tIns="243833" rIns="243833" bIns="243833" rtlCol="0" anchor="ctr" anchorCtr="0">
            <a:noAutofit/>
          </a:bodyPr>
          <a:lstStyle/>
          <a:p>
            <a:pPr>
              <a:buSzPts val="1900"/>
            </a:pPr>
            <a:r>
              <a:rPr lang="en-US" sz="4000" b="1" dirty="0"/>
              <a:t>Methodology – Sigstore Case Study</a:t>
            </a:r>
          </a:p>
        </p:txBody>
      </p:sp>
      <p:sp>
        <p:nvSpPr>
          <p:cNvPr id="401" name="Google Shape;401;p8">
            <a:extLst>
              <a:ext uri="{FF2B5EF4-FFF2-40B4-BE49-F238E27FC236}">
                <a16:creationId xmlns:a16="http://schemas.microsoft.com/office/drawing/2014/main" id="{92C14D8B-AD81-0541-525D-8618BFDA0C1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ellipse">
            <a:avLst/>
          </a:prstGeom>
        </p:spPr>
        <p:txBody>
          <a:bodyPr spcFirstLastPara="1" vert="horz" wrap="square" lIns="24367" tIns="60933" rIns="24367" bIns="60933" rtlCol="0" anchor="ctr" anchorCtr="0">
            <a:no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en-US" sz="1733" smtClean="0"/>
              <a:pPr>
                <a:buClr>
                  <a:srgbClr val="000000"/>
                </a:buClr>
              </a:pPr>
              <a:t>6</a:t>
            </a:fld>
            <a:endParaRPr lang="en-US" sz="1733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6787FA-5451-A3C6-9C53-ECE3BAD5B899}"/>
              </a:ext>
            </a:extLst>
          </p:cNvPr>
          <p:cNvSpPr txBox="1"/>
          <p:nvPr/>
        </p:nvSpPr>
        <p:spPr>
          <a:xfrm>
            <a:off x="182441" y="919184"/>
            <a:ext cx="7649593" cy="76944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17</a:t>
            </a:r>
            <a:r>
              <a:rPr lang="en-US" sz="2200" dirty="0"/>
              <a:t> experienced security practitioners across 13 organizations.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13 practitioners had implemented Sigstore.</a:t>
            </a:r>
          </a:p>
        </p:txBody>
      </p:sp>
      <p:pic>
        <p:nvPicPr>
          <p:cNvPr id="4" name="Picture 3" descr="A diagram of a usability framework&#10;&#10;AI-generated content may be incorrect.">
            <a:extLst>
              <a:ext uri="{FF2B5EF4-FFF2-40B4-BE49-F238E27FC236}">
                <a16:creationId xmlns:a16="http://schemas.microsoft.com/office/drawing/2014/main" id="{45B85467-E78B-AC70-2882-85BBFADE9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7754"/>
            <a:ext cx="12088805" cy="30222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AFD958-DD2B-37B5-725F-91D74A379866}"/>
              </a:ext>
            </a:extLst>
          </p:cNvPr>
          <p:cNvSpPr txBox="1"/>
          <p:nvPr/>
        </p:nvSpPr>
        <p:spPr>
          <a:xfrm>
            <a:off x="7599235" y="6072697"/>
            <a:ext cx="3549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Companion analysis appears in our USENIX Security ’25 paper: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3B85F5-0324-CBDE-2197-709C1E3D9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085" y="5594352"/>
            <a:ext cx="1228915" cy="122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58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56"/>
    </mc:Choice>
    <mc:Fallback xmlns="">
      <p:transition spd="slow" advTm="223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C14F1-11DB-D572-D503-6120494BD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CB486F-18ED-767B-672D-794E058F5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0253" y="6492874"/>
            <a:ext cx="2743201" cy="365126"/>
          </a:xfrm>
        </p:spPr>
        <p:txBody>
          <a:bodyPr>
            <a:normAutofit fontScale="92500" lnSpcReduction="20000"/>
          </a:bodyPr>
          <a:lstStyle/>
          <a:p>
            <a:pPr marL="457200" lvl="1" indent="0">
              <a:buNone/>
            </a:pPr>
            <a:endParaRPr lang="en-US" sz="2600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3DAFE-231D-4BD6-D572-73E9814E6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FD21F067-A4E7-7FF4-08DD-729E9C400CCC}"/>
              </a:ext>
            </a:extLst>
          </p:cNvPr>
          <p:cNvSpPr txBox="1">
            <a:spLocks/>
          </p:cNvSpPr>
          <p:nvPr/>
        </p:nvSpPr>
        <p:spPr>
          <a:xfrm>
            <a:off x="-1163" y="136525"/>
            <a:ext cx="12425311" cy="63817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i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Sigstore Reduces Key Management Burden—But Friction Migrates </a:t>
            </a:r>
            <a:endParaRPr lang="en-US" sz="3600" dirty="0"/>
          </a:p>
        </p:txBody>
      </p:sp>
      <p:pic>
        <p:nvPicPr>
          <p:cNvPr id="8" name="Picture 7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A31F438D-2696-1B45-5CF5-35721CC10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3" y="1649420"/>
            <a:ext cx="6035286" cy="45627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2DD0E4-3257-8220-E706-04F86BC277FF}"/>
              </a:ext>
            </a:extLst>
          </p:cNvPr>
          <p:cNvSpPr txBox="1"/>
          <p:nvPr/>
        </p:nvSpPr>
        <p:spPr>
          <a:xfrm>
            <a:off x="23609" y="950450"/>
            <a:ext cx="2992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Usability Strengths</a:t>
            </a: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63AE34A9-33BA-9BD3-D610-8881F67CA24A}"/>
              </a:ext>
            </a:extLst>
          </p:cNvPr>
          <p:cNvSpPr/>
          <p:nvPr/>
        </p:nvSpPr>
        <p:spPr>
          <a:xfrm rot="5400000" flipH="1">
            <a:off x="2321692" y="1746702"/>
            <a:ext cx="311292" cy="124358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FA243ECC-CA4E-65EF-9D72-1C49B4019C1B}"/>
              </a:ext>
            </a:extLst>
          </p:cNvPr>
          <p:cNvSpPr/>
          <p:nvPr/>
        </p:nvSpPr>
        <p:spPr>
          <a:xfrm rot="5400000" flipH="1">
            <a:off x="2823926" y="2740294"/>
            <a:ext cx="311292" cy="124358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3278FFED-9574-7DA7-2DD8-6FA66A0755F0}"/>
              </a:ext>
            </a:extLst>
          </p:cNvPr>
          <p:cNvSpPr/>
          <p:nvPr/>
        </p:nvSpPr>
        <p:spPr>
          <a:xfrm rot="5400000" flipH="1">
            <a:off x="3519618" y="3464257"/>
            <a:ext cx="311292" cy="62179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3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660"/>
    </mc:Choice>
    <mc:Fallback xmlns="">
      <p:transition spd="slow" advTm="616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D8AEF-6FB7-72CB-DAA2-AF49DA628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48B579-9F23-93F0-E46E-2AA3F33BA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0253" y="6492874"/>
            <a:ext cx="2743201" cy="365126"/>
          </a:xfrm>
        </p:spPr>
        <p:txBody>
          <a:bodyPr>
            <a:normAutofit fontScale="92500" lnSpcReduction="20000"/>
          </a:bodyPr>
          <a:lstStyle/>
          <a:p>
            <a:pPr marL="457200" lvl="1" indent="0">
              <a:buNone/>
            </a:pPr>
            <a:endParaRPr lang="en-US" sz="2600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BB830-1003-5FBD-6B2E-A2109441A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7DD32A9A-7BE6-17AA-5549-1D9CE708F63E}"/>
              </a:ext>
            </a:extLst>
          </p:cNvPr>
          <p:cNvSpPr txBox="1">
            <a:spLocks/>
          </p:cNvSpPr>
          <p:nvPr/>
        </p:nvSpPr>
        <p:spPr>
          <a:xfrm>
            <a:off x="-1163" y="136525"/>
            <a:ext cx="12425311" cy="63817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i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Sigstore Reduces Key Management Burden—But Friction Migrates </a:t>
            </a:r>
            <a:endParaRPr lang="en-US" sz="3600" dirty="0"/>
          </a:p>
        </p:txBody>
      </p:sp>
      <p:pic>
        <p:nvPicPr>
          <p:cNvPr id="8" name="Picture 7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8A6F191F-969E-ED4F-86FE-2B7F59286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3" y="1649420"/>
            <a:ext cx="6035286" cy="4562759"/>
          </a:xfrm>
          <a:prstGeom prst="rect">
            <a:avLst/>
          </a:prstGeom>
        </p:spPr>
      </p:pic>
      <p:pic>
        <p:nvPicPr>
          <p:cNvPr id="10" name="Picture 9" descr="A list of information on a white background&#10;&#10;AI-generated content may be incorrect.">
            <a:extLst>
              <a:ext uri="{FF2B5EF4-FFF2-40B4-BE49-F238E27FC236}">
                <a16:creationId xmlns:a16="http://schemas.microsoft.com/office/drawing/2014/main" id="{0477CC65-760D-C167-BE22-9F5C88051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011" y="970804"/>
            <a:ext cx="5154377" cy="585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3A8544-4C93-64E5-7A6E-310C80528AAA}"/>
              </a:ext>
            </a:extLst>
          </p:cNvPr>
          <p:cNvSpPr txBox="1"/>
          <p:nvPr/>
        </p:nvSpPr>
        <p:spPr>
          <a:xfrm>
            <a:off x="23609" y="950450"/>
            <a:ext cx="2992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Usability Strengths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8784CE-D3E6-8BEF-5871-D287510149B5}"/>
              </a:ext>
            </a:extLst>
          </p:cNvPr>
          <p:cNvSpPr txBox="1"/>
          <p:nvPr/>
        </p:nvSpPr>
        <p:spPr>
          <a:xfrm>
            <a:off x="6586519" y="649614"/>
            <a:ext cx="2975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Usability Problems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82395D-DE32-65BC-B320-9EFB87F124B2}"/>
              </a:ext>
            </a:extLst>
          </p:cNvPr>
          <p:cNvSpPr/>
          <p:nvPr/>
        </p:nvSpPr>
        <p:spPr>
          <a:xfrm>
            <a:off x="6199423" y="774700"/>
            <a:ext cx="74538" cy="6083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21CAE72E-ECD7-A2DA-70BA-7A137C7EDA32}"/>
              </a:ext>
            </a:extLst>
          </p:cNvPr>
          <p:cNvSpPr/>
          <p:nvPr/>
        </p:nvSpPr>
        <p:spPr>
          <a:xfrm rot="5400000" flipH="1">
            <a:off x="2321692" y="1746702"/>
            <a:ext cx="311292" cy="124358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C3CC320C-635E-A85A-F578-37B81CE04BF5}"/>
              </a:ext>
            </a:extLst>
          </p:cNvPr>
          <p:cNvSpPr/>
          <p:nvPr/>
        </p:nvSpPr>
        <p:spPr>
          <a:xfrm rot="5400000" flipH="1">
            <a:off x="2823926" y="2740294"/>
            <a:ext cx="311292" cy="124358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355B9EE5-F420-D5C8-3637-8A062968AF67}"/>
              </a:ext>
            </a:extLst>
          </p:cNvPr>
          <p:cNvSpPr/>
          <p:nvPr/>
        </p:nvSpPr>
        <p:spPr>
          <a:xfrm rot="5400000" flipH="1">
            <a:off x="3519618" y="3464257"/>
            <a:ext cx="311292" cy="62179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15D86206-CF0C-8B98-A49A-997867915164}"/>
              </a:ext>
            </a:extLst>
          </p:cNvPr>
          <p:cNvSpPr/>
          <p:nvPr/>
        </p:nvSpPr>
        <p:spPr>
          <a:xfrm rot="5400000" flipH="1">
            <a:off x="9154607" y="1030528"/>
            <a:ext cx="311292" cy="124358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26F17B39-39D8-BF08-75BB-6908D66F27DA}"/>
              </a:ext>
            </a:extLst>
          </p:cNvPr>
          <p:cNvSpPr/>
          <p:nvPr/>
        </p:nvSpPr>
        <p:spPr>
          <a:xfrm rot="5400000" flipH="1">
            <a:off x="9184561" y="2764386"/>
            <a:ext cx="365126" cy="93419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7E52A00C-60C7-D4F4-9514-4CFC9724E6F7}"/>
              </a:ext>
            </a:extLst>
          </p:cNvPr>
          <p:cNvSpPr/>
          <p:nvPr/>
        </p:nvSpPr>
        <p:spPr>
          <a:xfrm rot="5400000" flipH="1">
            <a:off x="9169605" y="1549506"/>
            <a:ext cx="311292" cy="124358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3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660"/>
    </mc:Choice>
    <mc:Fallback xmlns="">
      <p:transition spd="slow" advTm="616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4B30D-CDB0-90E9-D308-5C79106E6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AE393B-8C96-8854-D9C7-1614EA998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39" y="5103674"/>
            <a:ext cx="5561215" cy="1754326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2600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944B0-4795-C710-8193-23F22F62E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C9672FD5-D4EF-3B43-A361-79D1172E40D7}"/>
              </a:ext>
            </a:extLst>
          </p:cNvPr>
          <p:cNvSpPr txBox="1">
            <a:spLocks/>
          </p:cNvSpPr>
          <p:nvPr/>
        </p:nvSpPr>
        <p:spPr>
          <a:xfrm>
            <a:off x="0" y="136525"/>
            <a:ext cx="12192000" cy="8771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i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What Actually Determines Whether Organizations Adopt These Tools?</a:t>
            </a:r>
            <a:endParaRPr lang="en-US" sz="3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3F4B68-C5C4-F76B-0342-040290CECB46}"/>
              </a:ext>
            </a:extLst>
          </p:cNvPr>
          <p:cNvCxnSpPr>
            <a:cxnSpLocks/>
          </p:cNvCxnSpPr>
          <p:nvPr/>
        </p:nvCxnSpPr>
        <p:spPr>
          <a:xfrm flipV="1">
            <a:off x="337930" y="1013688"/>
            <a:ext cx="11449879" cy="1797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B4590AC-67FC-9483-D9DF-FB7C10568FF5}"/>
              </a:ext>
            </a:extLst>
          </p:cNvPr>
          <p:cNvSpPr txBox="1"/>
          <p:nvPr/>
        </p:nvSpPr>
        <p:spPr>
          <a:xfrm>
            <a:off x="3379818" y="4421378"/>
            <a:ext cx="5432364" cy="23433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rnd">
            <a:solidFill>
              <a:schemeClr val="accent1">
                <a:lumMod val="75000"/>
                <a:alpha val="94000"/>
              </a:schemeClr>
            </a:solidFill>
            <a:round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Adoption is: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pushed </a:t>
            </a:r>
            <a:r>
              <a:rPr lang="en-US" sz="2200" dirty="0"/>
              <a:t>by legacy pain,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pulled</a:t>
            </a:r>
            <a:r>
              <a:rPr lang="en-US" sz="2000" dirty="0"/>
              <a:t> </a:t>
            </a:r>
            <a:r>
              <a:rPr lang="en-US" sz="2200" dirty="0"/>
              <a:t>by new identity-based capabilities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constrained</a:t>
            </a:r>
            <a:r>
              <a:rPr lang="en-US" sz="2000" dirty="0"/>
              <a:t> </a:t>
            </a:r>
            <a:r>
              <a:rPr lang="en-US" sz="2200" dirty="0"/>
              <a:t>by organizational barriers.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63FC22-B533-1669-A180-B72AD0B29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548" y="1097799"/>
            <a:ext cx="7952652" cy="325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56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660"/>
    </mc:Choice>
    <mc:Fallback xmlns="">
      <p:transition spd="slow" advTm="6166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62EAA-AFD7-BA92-B7C8-E7B6FE6B2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2CCE3-9E1F-C949-3BBD-D0A03CDD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4D1AE7-B206-5477-6562-8D65E5D671F6}"/>
              </a:ext>
            </a:extLst>
          </p:cNvPr>
          <p:cNvSpPr txBox="1"/>
          <p:nvPr/>
        </p:nvSpPr>
        <p:spPr>
          <a:xfrm>
            <a:off x="533038" y="806263"/>
            <a:ext cx="10718428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	Identity-based signing reduces legacy key-management burdens.</a:t>
            </a:r>
          </a:p>
          <a:p>
            <a:pPr algn="ctr"/>
            <a:r>
              <a:rPr lang="en-US" sz="2400" dirty="0"/>
              <a:t>	</a:t>
            </a:r>
            <a:r>
              <a:rPr lang="en-US" sz="2400" b="1" dirty="0"/>
              <a:t>Its adoption depends on solving today's organizational usability challenges.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BB0A27-2A14-A7AB-204B-E30346530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363" y="4614602"/>
            <a:ext cx="2195678" cy="21956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A43D53-DE80-EE35-63B7-4146B0A8C262}"/>
              </a:ext>
            </a:extLst>
          </p:cNvPr>
          <p:cNvSpPr txBox="1"/>
          <p:nvPr/>
        </p:nvSpPr>
        <p:spPr>
          <a:xfrm>
            <a:off x="861675" y="4294863"/>
            <a:ext cx="2733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Find our full paper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56FBD3-0E3A-AE59-6827-7405C32563E3}"/>
              </a:ext>
            </a:extLst>
          </p:cNvPr>
          <p:cNvSpPr txBox="1"/>
          <p:nvPr/>
        </p:nvSpPr>
        <p:spPr>
          <a:xfrm>
            <a:off x="4145273" y="4643106"/>
            <a:ext cx="46136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/>
              <a:t>Thank you for your attention!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DB3A42-C736-ABE7-F060-BC101A1448FA}"/>
              </a:ext>
            </a:extLst>
          </p:cNvPr>
          <p:cNvSpPr txBox="1"/>
          <p:nvPr/>
        </p:nvSpPr>
        <p:spPr>
          <a:xfrm>
            <a:off x="8497465" y="6051737"/>
            <a:ext cx="2521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Find our other works: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60D5FB3-ADC2-30C3-75BF-D8335C85D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5636" y="5303565"/>
            <a:ext cx="1180685" cy="118068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9284A21-7237-2D7C-061D-835C1213D6AC}"/>
              </a:ext>
            </a:extLst>
          </p:cNvPr>
          <p:cNvSpPr txBox="1"/>
          <p:nvPr/>
        </p:nvSpPr>
        <p:spPr>
          <a:xfrm>
            <a:off x="199663" y="88993"/>
            <a:ext cx="69961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i="1" dirty="0">
                <a:latin typeface="+mj-lt"/>
                <a:cs typeface="Calibri" panose="020F0502020204030204" pitchFamily="34" charset="0"/>
              </a:rPr>
              <a:t>Lessons for Identity-Based Signing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6ED3A5D-F319-A2D0-F39E-680B42561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738" y="2133886"/>
            <a:ext cx="577660" cy="577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3581ED1-03E1-5A3E-CEB2-415738A812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350" y="2332452"/>
            <a:ext cx="352545" cy="3525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8206148-C82C-E82A-BF42-9E3EC2DCE7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1411" y="2137333"/>
            <a:ext cx="662774" cy="6627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0C76F8F-1BEB-F92E-1FF0-CB6DDA4586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0753" y="2176042"/>
            <a:ext cx="591864" cy="5918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2CAFD8F-0763-E52C-CFAB-6D2E96C918EE}"/>
              </a:ext>
            </a:extLst>
          </p:cNvPr>
          <p:cNvCxnSpPr>
            <a:cxnSpLocks/>
          </p:cNvCxnSpPr>
          <p:nvPr/>
        </p:nvCxnSpPr>
        <p:spPr>
          <a:xfrm>
            <a:off x="180743" y="1944659"/>
            <a:ext cx="11751660" cy="0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C45E18A-E917-BDDE-9412-8AC2423CE78C}"/>
              </a:ext>
            </a:extLst>
          </p:cNvPr>
          <p:cNvSpPr txBox="1"/>
          <p:nvPr/>
        </p:nvSpPr>
        <p:spPr>
          <a:xfrm>
            <a:off x="3615497" y="1729975"/>
            <a:ext cx="406195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Design Recommendations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28ED15-6827-C03C-B9B9-C66D4744AAC8}"/>
              </a:ext>
            </a:extLst>
          </p:cNvPr>
          <p:cNvSpPr txBox="1"/>
          <p:nvPr/>
        </p:nvSpPr>
        <p:spPr>
          <a:xfrm>
            <a:off x="0" y="2798466"/>
            <a:ext cx="327827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Enterprise &amp; private </a:t>
            </a:r>
          </a:p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       deployments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9D57CB-82C4-41DB-18A0-DD1E36E40157}"/>
              </a:ext>
            </a:extLst>
          </p:cNvPr>
          <p:cNvSpPr txBox="1"/>
          <p:nvPr/>
        </p:nvSpPr>
        <p:spPr>
          <a:xfrm>
            <a:off x="4559226" y="2795931"/>
            <a:ext cx="2756001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2.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Workflow-first</a:t>
            </a:r>
          </a:p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     integrations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A4F3B9-3D96-D314-9A77-AA1189F19043}"/>
              </a:ext>
            </a:extLst>
          </p:cNvPr>
          <p:cNvSpPr txBox="1"/>
          <p:nvPr/>
        </p:nvSpPr>
        <p:spPr>
          <a:xfrm>
            <a:off x="8913732" y="2795930"/>
            <a:ext cx="317259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3. Usable transparency                                                                                                            &amp; privacy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4CA0078-AA88-523D-F375-6CA9B4F2CCDD}"/>
              </a:ext>
            </a:extLst>
          </p:cNvPr>
          <p:cNvCxnSpPr>
            <a:cxnSpLocks/>
          </p:cNvCxnSpPr>
          <p:nvPr/>
        </p:nvCxnSpPr>
        <p:spPr>
          <a:xfrm>
            <a:off x="199663" y="4312174"/>
            <a:ext cx="11597933" cy="6625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ECBD717-13D0-14A3-454C-24D8D4FD67F6}"/>
              </a:ext>
            </a:extLst>
          </p:cNvPr>
          <p:cNvSpPr txBox="1"/>
          <p:nvPr/>
        </p:nvSpPr>
        <p:spPr>
          <a:xfrm>
            <a:off x="31937" y="3542827"/>
            <a:ext cx="2960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Private instances, air-gapped environments, &amp; scalability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9F4237-9CB9-1537-59F7-79F57A5643E5}"/>
              </a:ext>
            </a:extLst>
          </p:cNvPr>
          <p:cNvSpPr txBox="1"/>
          <p:nvPr/>
        </p:nvSpPr>
        <p:spPr>
          <a:xfrm>
            <a:off x="4175735" y="3542826"/>
            <a:ext cx="3433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Official CI/CD integrations, </a:t>
            </a:r>
          </a:p>
          <a:p>
            <a:r>
              <a:rPr lang="en-US" dirty="0"/>
              <a:t>plugins/APIs, &amp; migration guidance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64CAFE-78FF-8710-4E13-C38E0FAE45C5}"/>
              </a:ext>
            </a:extLst>
          </p:cNvPr>
          <p:cNvSpPr txBox="1"/>
          <p:nvPr/>
        </p:nvSpPr>
        <p:spPr>
          <a:xfrm>
            <a:off x="8384331" y="3537792"/>
            <a:ext cx="3807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Configurable transparency-log privacy controls, &amp; clearer documentation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1F3265D-CBE0-5F6B-691D-32EF5A1C313D}"/>
              </a:ext>
            </a:extLst>
          </p:cNvPr>
          <p:cNvSpPr txBox="1"/>
          <p:nvPr/>
        </p:nvSpPr>
        <p:spPr>
          <a:xfrm>
            <a:off x="4982076" y="5296942"/>
            <a:ext cx="2626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Kelechi G. Kalu</a:t>
            </a:r>
          </a:p>
          <a:p>
            <a:pPr algn="ctr"/>
            <a:r>
              <a:rPr lang="en-US" sz="2400" b="1" u="sng" dirty="0" err="1"/>
              <a:t>kalu@purdue.edu</a:t>
            </a:r>
            <a:endParaRPr lang="en-US" sz="2400" b="1" u="sng" dirty="0"/>
          </a:p>
        </p:txBody>
      </p:sp>
    </p:spTree>
    <p:extLst>
      <p:ext uri="{BB962C8B-B14F-4D97-AF65-F5344CB8AC3E}">
        <p14:creationId xmlns:p14="http://schemas.microsoft.com/office/powerpoint/2010/main" val="62792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918"/>
    </mc:Choice>
    <mc:Fallback xmlns="">
      <p:transition spd="slow" advTm="37918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132495</TotalTime>
  <Words>1406</Words>
  <Application>Microsoft Office PowerPoint</Application>
  <PresentationFormat>Widescreen</PresentationFormat>
  <Paragraphs>163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From Legacy Key-Managed to Identity-Based Signing</vt:lpstr>
      <vt:lpstr>From Legacy Key-Managed to Identity-Based Signing</vt:lpstr>
      <vt:lpstr>PowerPoint Presentation</vt:lpstr>
      <vt:lpstr>From Legacy Key-Managed to Identity-Based Signing</vt:lpstr>
      <vt:lpstr>Methodology – Sigstore Case Study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Kelechi Kalu</dc:creator>
  <cp:lastModifiedBy>Kelechi Gabriel Kalu</cp:lastModifiedBy>
  <cp:revision>29</cp:revision>
  <dcterms:created xsi:type="dcterms:W3CDTF">2024-01-18T08:00:35Z</dcterms:created>
  <dcterms:modified xsi:type="dcterms:W3CDTF">2026-10-12T16:22:45Z</dcterms:modified>
</cp:coreProperties>
</file>